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Unit 2 · Values and 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Unit 1 used fixed values to demonstrate a sequence of instructions. Unit 2 lets a user supply values while the program runs, then calculates and explains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Learning outcomes: recognise common data types; apply arithmetic operators; read and convert keyboard input; format output; test an everyday calculator.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The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Understand the problem before writing code. Identify inputs, choose the processing steps, and define clear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Input typed by student → text returned by input() → conversion to numbers → calculation → labelled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What is a data type?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data type identifies the kind of value being handled. Python distinguishes whole numbers, decimal-capable numbers and strings of characters.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int: 4 or 2500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float: 2.5 or 1500.75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str: "Amina" or "2500"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Quotes turn numeric-looking digits into 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Inspecting a value with type()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The type() function reports the type of a value. It helps explain why apparently similar values behave differently.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quantity = 4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price = 2500.50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code = "04"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print(type(quantity))  # int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print(type(price))     # float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print(type(code))      # 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Variables carry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variable is a name associated with a value. A useful name describes the information, such as fare_per_trip or weekly_total.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fare = 1500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trips = 6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total = fare * trips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print(total)  # 9000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2700" b="1">
                <a:solidFill>
                  <a:srgbClr val="142239"/>
                </a:solidFill>
                <a:latin typeface="Aptos"/>
              </a:defRPr>
            </a:pPr>
            <a:r>
              <a:t>Changing a value is not recalculating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Assignments replace the value associated with a variable name. A previous calculation remains unchanged until its statement runs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trips = 8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print(total)  # still 9000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total = fare * trips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print(total)  # now 12000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The main arithmetic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Python uses + for addition, - for subtraction, * for multiplication and / for division. Ordinary division produces a float.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7 + 3 → 10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7 - 3 → 4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7 * 3 → 21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7 / 2 → 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Complete groups, remainders, powers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Floor division // gives the number of whole groups for positive counts; % gives the remainder. The ** operator raises a number to a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17 // 5 → 3 full bundles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17 % 5 → 2 books left over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2 ** 3 →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Order of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Multiplication happens before addition unless parentheses change the grouping. An arithmetically valid expression can still be wrong for the intended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10 + 2 * 3 → 16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(10 + 2) * 3 → 36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(5000 + 2000) * 5 → 35000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Use intermediate 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Naming each important result makes an expression easier to read, check and change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food = 5000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transport = 2000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days = 5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daily = food + transport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weekly = daily * days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print(weekly)  # 35000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Reading a value with input()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The input() function displays a prompt and waits for keyboard input. The answer is always returned as text, even if the user types digits.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name = input("Your name: ")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print("Welcome,", name)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# If the user types Amina: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# Welcome, Amina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Why 12 + 3 can become 123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If two typed values have not been converted, the + operator joins the two strings rather than calculating a numeric sum.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first = input("First: ")   # type 12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second = input("Second: ") # type 3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print(first + second)       #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Convert text to a whole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Use int() when the answer should be a whole-number count. A number written as text becomes an integer that can take part in arithmetic.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books = int(input("Number of books: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price = 2000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print(books * price)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# Input 3 → output 6000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Convert text to a decimal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Use float() for a value that may contain a decimal point. The input should contain ordinary numeric digits, without commas or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fare = float(input("Fare (TZS):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trips = int(input("Trips: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print(fare * trips)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# Input 1500.50 and 2 → 3001.0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2700" b="1">
                <a:solidFill>
                  <a:srgbClr val="142239"/>
                </a:solidFill>
                <a:latin typeface="Aptos"/>
              </a:defRPr>
            </a:pPr>
            <a:r>
              <a:t>Typing digits: three different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type affects what the + operator means. String + string joins; number + number adds; string + number raises an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"12" + "3" → "123"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12 + 3 → 15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"12" + 3 → TypeError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A complete transport calculator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The program asks two questions, converts text, multiplies the resulting numbers and displays the calculated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fare = float(input("Fare in TZS: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trips = int(input("Trips: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total = fare * trips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print(f"Transport cost: TZS {total:.2f}")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Trace the calculator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For input 1500 and 6: first the typed values are strings; then conversion creates float 1500.0 and integer 6; finally multiplication produces 9000.0.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Input → conversion → processing → output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Displayed result: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Transport cost: TZS 9000.00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Strings describe the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Strings carry names, labels and sentences. Joining strings with + and displaying values with print() can communicate the meaning of a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name = "Amina"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print("Hello, " + name)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print("Hello,", 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Readable sentences with f-strings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An f-string includes values or expressions in curly braces. Python evaluates them when the string is created.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320" b="0">
                <a:solidFill>
                  <a:srgbClr val="E8F5FC"/>
                </a:solidFill>
                <a:latin typeface="Consolas"/>
              </a:defRPr>
            </a:pPr>
            <a:r>
              <a:t>items = 3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320" b="0">
                <a:solidFill>
                  <a:srgbClr val="E8F5FC"/>
                </a:solidFill>
                <a:latin typeface="Consolas"/>
              </a:defRPr>
            </a:pPr>
            <a:r>
              <a:t>price = 2500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320" b="0">
                <a:solidFill>
                  <a:srgbClr val="E8F5FC"/>
                </a:solidFill>
                <a:latin typeface="Consolas"/>
              </a:defRPr>
            </a:pPr>
            <a:r>
              <a:t>print(f"{items} books cost TZS {items * price}")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320" b="0">
                <a:solidFill>
                  <a:srgbClr val="E8F5FC"/>
                </a:solidFill>
                <a:latin typeface="Consolas"/>
              </a:defRPr>
            </a:pPr>
            <a:r>
              <a:t># 3 books cost TZS 7500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Formatting decimal places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The :.2f format specification displays two digits after the decimal point. Formatting affects the displayed string, not the stored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distance = 12.75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days = 4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average = distance / days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print(f"{average:.2f} km")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700" b="0">
                <a:solidFill>
                  <a:srgbClr val="E8F5FC"/>
                </a:solidFill>
                <a:latin typeface="Consolas"/>
              </a:defRPr>
            </a:pPr>
            <a:r>
              <a:t># 3.19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Weekly expenditure: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Estimate a student’s weekly cost using daily food, daily transport and the number of campus days. Compare the total with the weekly allowance.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Inputs: food/day, transport/day, days, allowance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Weekly cost = (food + transport) × days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Balance = allowance − weekly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Weekly expenditure: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Convert typed values, calculate a daily total, multiply by the number of days, then subtract the weekly cost from the allowance.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816352"/>
            <a:ext cx="4983480" cy="2706624"/>
          </a:xfrm>
          <a:prstGeom prst="round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944368"/>
            <a:ext cx="4608576" cy="2377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food = float(input("Food/day: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travel = float(input("Travel/day: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days = int(input("Days: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allowance = float(input("Allowance: "))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weekly = (food + travel) * days</a:t>
            </a:r>
          </a:p>
          <a:p>
            <a:pPr>
              <a:lnSpc>
                <a:spcPct val="112000"/>
              </a:lnSpc>
              <a:spcAft>
                <a:spcPts val="300"/>
              </a:spcAft>
              <a:defRPr sz="1550" b="0">
                <a:solidFill>
                  <a:srgbClr val="E8F5FC"/>
                </a:solidFill>
                <a:latin typeface="Consolas"/>
              </a:defRPr>
            </a:pPr>
            <a:r>
              <a:t>balance = allowance - weekly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Interpreting the 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The calculation can produce a positive, zero or negative balance. In Unit 2 it displays the number; Unit 3 will add conditional decisions to interpret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Allowance 40000; weekly 32500 → balance 7500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Allowance 20000; weekly 22000 → balance -2000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Common errors and their clues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TypeError can come from adding a string to a number. A ValueError can occur when int() receives unsuitable text. Division by zero is also an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"4" + 2 → TypeError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int("four") → ValueError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10 / 0 → ZeroDivisionError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Read the error message and locate the 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Logic errors can look convincing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programme may run but calculate the wrong thing. Operator precedence is a common cause, so group daily spending before multiplying by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Incorrect: food + transport * days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Correct: (food + transport) * days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</a:p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Use hand calculations to detect logic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Three useful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Test normal input, a zero-day case and a week where the cost exceeds the allowance. Record expected and actual results rather than relying only on a successful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4000, 2500, 5, 40000 → weekly 32500; balance 7500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3500, 2000, 4, 20000 → weekly 22000; balance -2000</a:t>
            </a:r>
          </a:p>
          <a:p>
            <a:pPr>
              <a:lnSpc>
                <a:spcPct val="123000"/>
              </a:lnSpc>
              <a:spcAft>
                <a:spcPts val="300"/>
              </a:spcAft>
              <a:defRPr sz="1750" b="0">
                <a:solidFill>
                  <a:srgbClr val="C1EAE1"/>
                </a:solidFill>
                <a:latin typeface="Aptos"/>
              </a:defRPr>
            </a:pPr>
            <a:r>
              <a:t>5000, 3000, 0, 10000 → weekly 0; balance 10000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Practice and independent Activity U2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Guided exercises explore string conversion, shopping totals and the weekly budget. The independent activity asks for a runnable calculator, an algorithm and test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Submit a .py file and brief notes. Show typed inputs, two labelled TZS outputs and three tests. Explain which conversions are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5544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NM-AIST  /  SSE+ 0003  /  UNIT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1852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3200" b="1">
                <a:solidFill>
                  <a:srgbClr val="142239"/>
                </a:solidFill>
                <a:latin typeface="Aptos"/>
              </a:defRPr>
            </a:pPr>
            <a:r>
              <a:t>Before moving to Unit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914400" cy="5029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29968"/>
            <a:ext cx="5358384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029968"/>
            <a:ext cx="5422392" cy="388620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249424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9FE0D5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24912"/>
            <a:ext cx="4782312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4000"/>
              </a:lnSpc>
              <a:spcAft>
                <a:spcPts val="3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learner is ready when they can explain data types, convert text input, use parentheses, format numeric output and check results independently.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779776"/>
            <a:ext cx="4791456" cy="2734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23000"/>
              </a:lnSpc>
              <a:spcAft>
                <a:spcPts val="300"/>
              </a:spcAft>
              <a:defRPr sz="1900" b="0">
                <a:solidFill>
                  <a:srgbClr val="C1EAE1"/>
                </a:solidFill>
                <a:latin typeface="Aptos"/>
              </a:defRPr>
            </a:pPr>
            <a:r>
              <a:t>Unit 3: Making decisions with if, elif and else. Conditions will allow the programme to respond differently to different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345936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0">
                <a:solidFill>
                  <a:srgbClr val="53647A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18504"/>
            <a:ext cx="795528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1">
                <a:solidFill>
                  <a:srgbClr val="2456A5"/>
                </a:solidFill>
                <a:latin typeface="Aptos"/>
              </a:defRPr>
            </a:pPr>
            <a: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