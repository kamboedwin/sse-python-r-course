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 · Testing and debugging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errors systematically, check expected against observed behaviour, and demonstrate that your Python functions handle important cases.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EXAMPLE / TAKEAWAY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83096" y="2779776"/>
            <a:ext cx="470001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CONCEPT: tests detect failures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PROCESS: debugging explains and repairs failures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47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 outcomes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Recognise syntax, runtime and logic errors; trace faulty loops and conditions; design normal, boundary and invalid tests; validate input; use assert; and document repairs.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EXAMPLE / TAKEAWAY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83096" y="2779776"/>
            <a:ext cx="470001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task: repair and verify a five-day expenditure analyser.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47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test and debug programmes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compares actual behaviour with the requirement. Debugging identifies why a failed case behaves incorrectly. Both improve confidence; neither guarantees every possible scenario.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expenses = [2000, 3000, 0, 4000, 1000]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print(sum(expenses))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47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test and debug programmes · applied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[2000,3000,0,4000,1000], the expected total is 10,000 TZS. Write the expected value before pressing Run.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Expected: 10000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Observed: 10000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Result: PASS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47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a clear requirement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clear, checkable requirement specifies inputs, processing and observable outputs. Ambiguous words such as “works well” cannot by themselves define a test.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if total &gt; allowance: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message = "Over budget"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47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a clear requirement · applied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rules before building a test: five non-negative accepted values; accurate sum/average/zeros; an exact equality branch; clear re-prompting for invalid entries.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Expected output: defined before execution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47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common categories of errors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Syntax: code cannot be parsed. Runtime: an exception occurs during execution. Logic: code runs but violates a requirement.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if total &gt; allowance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print("Over")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/ 47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common categories of errors · applied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programme may display a believable value even when the denominator is wrong. Wrong-but-plausible is a reason to test, not to trust.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average = total / 4  # wrong for 5 days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 / 47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an error message and traceback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the exception type and message; note the file and line; recreate the failure using the same input. Do not randomly edit several lines at once.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values = [100, 200]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print(values[2])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 / 47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an error message and traceback · applied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 two-element list, indices 0 and 1 are valid. Accessing index 2 fails. The fix is to use a valid position or adjust the loop bounds.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IndexError: list index out of range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47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Reproduce the problem before fixing it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Reproduce → isolate → explain → change one cause → rerun tests. Save the failing input so the error does not return later.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total_wrong([10])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47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Reproduce the problem before fixing it · applied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amount of 10 should total 10. With range(len(values)-1), no indices are visited, so the faulty function returns 0.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Expected: 10 | Actual: 0 | FAIL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/ 47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execution step by step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each iteration and track the changing variable. Do not skip the loop condition on the final attempted iteration.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 | value | running total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 | 10 | 10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 | 20 | 30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 / 47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execution step by step · applied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[10,20,30], the faulty loop visits 10 and 20, leaving 30 unprocessed. A step-by-step table reveals exactly what was omitted.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Correct total = 60; buggy total = 30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 / 47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carefully chosen print statements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Temporary print statements show what Python really did, not what we assumed it did. Label every displayed value.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print("DEBUG day:", i + 1)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print("DEBUG amount:", amount)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 / 47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carefully chosen print statements · applied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loops, inspect iteration number, element and running total. Stop printing after the bug is understood.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DEBUG amount: 3000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 / 47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debugger or breakpoint when available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Breakpoints pause a running programme. Step Over executes the current line without entering a called function; Step Into follows a function call.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total = 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 pause here; inspect values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for amount in values: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total += amount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 / 47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debugger or breakpoint when available · applied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purpose is to observe state and locate the first moment when an actual value differs from expectation.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Pause → inspect → step → explain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 / 47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a proper test case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 test ID, input, expected output, actual output and PASS/FAIL. A test without expected output cannot reveal a logic error reliably.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T01 | total five amounts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 / 47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a proper test case · applied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the arithmetic outside the faulty function: 2,000 + 3,000 + 0 + 4,000 + 1,000 = 10,000.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Expected 10000; actual 9000 → FAIL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 / 47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Normal, boundary and invalid inputs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 inputs show common behaviour. Boundary inputs exercise equality, zero and limits. Invalid inputs check that the programme rejects wrong values safely.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total = 15000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allowance = 15000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 / 47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Normal, boundary and invalid inputs · applied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programme might pass a normal case and still fail when total equals allowance. Always include at least one equality case.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Correct: Exactly on budget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 / 47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Off-by-one errors in loops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range(n) stops before n. For n=5, it produces 0, 1, 2, 3 and 4. Using n−1 omits the last index.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range(len(expenses) - 1)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 / 47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Off-by-one errors in loops · applied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an asymmetric list whose last entry is non-zero. An all-zero list can hide some omission errors because the incorrect sum may still be zero.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[2,3,0,4,1]: wrong total 9; right total 10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 / 47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conditions at equality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order and operators of if/elif/else matter. The first true branch is chosen.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if total &gt;= allowance: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status = "Over budget"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 / 47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conditions at equality · applied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total = allowance = 15,000, a first branch with &gt;= incorrectly labels the student as over budget.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Correct equality outcome: Exactly on budget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 / 47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 and average correctly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 count variable that grows when a zero is found. Do not reset the count after finding one. For averages, confirm the denominator matches the number of accepted values.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zeros += 1  # for each zero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average = total / 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 / 47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Count and average correctly · applied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five values totalling 10,000, dividing by 4 gives 2,500, but the correct five-day average is 2,000.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[0,0,0,0,0]: count = 5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 / 47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invalid input and re-prompt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the value, not just its type. Text like abc fails conversion. Negative numbers are numeric but invalid expenses. Only accepted values should be appended.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try: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amount = float(text)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except ValueError: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print("Use a number")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 / 47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Reject invalid input and re-prompt · applied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Reprompt the same day after abc or -500; accept 0.0. Five accepted days require exactly five stored elements.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After rejection: do not append an element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/ 47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functions in isolation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one function at a time so the source of a failure is easier to find. Use known inputs and outputs, then combine the functions in a full workflow.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def double(n):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  return n * 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 / 47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Testing functions in isolation · applied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function that prints 6 but returns None will fail an equality check against 6.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double(3) == 6 → True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 / 47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automatic checks with assert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assert condition means “this should be true at this point”. A failing assertion highlights a violated expectation.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assert double(3) == 6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assert double(0) == 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 / 47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automatic checks with assert · applied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several independent assertions. A passing assertion does not prove that every other case works.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AssertionError indicates a failed check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 / 47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testing after a fix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testing repeats earlier tests after a code change to ensure other cases still work.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T01 under | PASS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T02 equal | PASS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T03 over  | PASS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/ 47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testing after a fix · applied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changing &gt;= to &gt;, rerun cases below, equal to and above the allowance. All three must pass.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 one-line fix can still cause another failure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 / 47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numbers carefully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floating-point values may be approximate. A formatted display is not proof of exact numeric equality.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round(2.0, 2)  # display is still separate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 / 47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numbers carefully · applied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this unit, compare the expected money values numerically and display results to two decimal places.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math.isclose(0.1 + 0.2, 0.3) → True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 / 47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a bug report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Evidence-rich reports make faults easier to reproduce and fix. Record the failing case before changing the code.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Bug: final item missing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Expected 60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Actual 30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 / 47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a bug report · applied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report distinguishes observed behaviour from suspected explanation. A suspicion is not a verified root cause.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Cause found: incorrect loop stop value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 / 47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use of help and tools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the evidence: runnable code, reproducible test outputs and explanations. Declare assistance and understand each changed line.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Test evidence must match actual runs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 / 47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use of help and tools · applied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hide an unresolved test. Mark FAIL and explain the remaining limitation if one is not fixed by the deadline.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Assistance: tool/person/source and what it helped with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 / 47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full testing cycle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→ observe → debug → fix → retest → report. Test outcomes must be connected to explicit requirements.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Problem → requirement → test → evidence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 / 47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the full testing cycle · applied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artefact is not only the corrected Python file: it also includes the test table and an explanation of how the repairs were verified.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EXAMPLE / CHECK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28232" y="2743200"/>
            <a:ext cx="4892040" cy="2752344"/>
          </a:xfrm>
          <a:prstGeom prst="roundRect">
            <a:avLst>
              <a:gd name="adj" fmla="val 2326"/>
            </a:avLst>
          </a:prstGeom>
          <a:solidFill>
            <a:srgbClr val="162C48"/>
          </a:solidFill>
          <a:ln w="6350">
            <a:solidFill>
              <a:srgbClr val="162C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11112" y="2926080"/>
            <a:ext cx="453542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E8F7FE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Unit 6: diagnose, repair and demonstrate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 / 47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Worked test matrix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cases: normal under-budget, all-zero at zero allowance, exact equality, above allowance, and one rejected negative entry before accepting a valid amount.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EXAMPLE / TAKEAWAY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83096" y="2779776"/>
            <a:ext cx="470001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totals: 10000, 0, 15000, 22000, 6000.</a:t>
            </a:r>
            <a:endParaRPr lang="en-US" sz="2100" dirty="0"/>
          </a:p>
          <a:p>
            <a:pPr indent="0" marL="0">
              <a:buNone/>
            </a:pPr>
            <a:r>
              <a:rPr lang="en-US" sz="21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Expected zero counts: 1, 5, 0, 0, 2.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 / 47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 submission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the supplied flawed programme and submit runnable Python code, a concise bug report, a test table with expected and observed outputs, and an assistance declaration.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EXAMPLE / TAKEAWAY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83096" y="2779776"/>
            <a:ext cx="470001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course Google Form linked on the Activity U6 page.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 / 47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D70B4"/>
          </a:solidFill>
          <a:ln w="12700">
            <a:solidFill>
              <a:srgbClr val="2D70B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918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NM-AIST   /   SSE+ 0003   /   UNIT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648" y="740664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142D4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6 · takeaways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1060704" cy="54864"/>
          </a:xfrm>
          <a:prstGeom prst="rect">
            <a:avLst/>
          </a:prstGeom>
          <a:solidFill>
            <a:srgbClr val="1A9C91"/>
          </a:solidFill>
          <a:ln w="12700">
            <a:solidFill>
              <a:srgbClr val="1A9C91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2331720"/>
            <a:ext cx="479145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&amp; REASONING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770632"/>
            <a:ext cx="47823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test cases can check a repaired programme and reveal new faults. Reliable programmes communicate valid results and handle expected user mistakes clearly.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199632" y="2075688"/>
            <a:ext cx="5394960" cy="3831336"/>
          </a:xfrm>
          <a:prstGeom prst="roundRect">
            <a:avLst>
              <a:gd name="adj" fmla="val 3103"/>
            </a:avLst>
          </a:prstGeom>
          <a:solidFill>
            <a:srgbClr val="F1F6FB"/>
          </a:solidFill>
          <a:ln w="12700">
            <a:solidFill>
              <a:srgbClr val="D6E2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73952" y="2331720"/>
            <a:ext cx="47548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D70B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APPLIED EXAMPLE / TAKEAWAY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83096" y="2779776"/>
            <a:ext cx="4700016" cy="272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1E35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first: these testing habits transfer into Unit 7 with R.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492240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03136" y="5641848"/>
            <a:ext cx="73152" cy="73152"/>
          </a:xfrm>
          <a:prstGeom prst="ellipse">
            <a:avLst/>
          </a:prstGeom>
          <a:solidFill>
            <a:srgbClr val="1A9C91"/>
          </a:solidFill>
          <a:ln w="2540">
            <a:solidFill>
              <a:srgbClr val="1A9C9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14032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4928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35824" y="5641848"/>
            <a:ext cx="73152" cy="73152"/>
          </a:xfrm>
          <a:prstGeom prst="ellipse">
            <a:avLst/>
          </a:prstGeom>
          <a:solidFill>
            <a:srgbClr val="D6E2EE"/>
          </a:solidFill>
          <a:ln w="2540">
            <a:solidFill>
              <a:srgbClr val="D6E2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" y="6391656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SSE+ 0003  ·  Introduction to Programming with Python and 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780776" y="635508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267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47 / 47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6 – Testing and Debugging in Python</dc:title>
  <dc:subject>Testing and debugging in Python</dc:subject>
  <dc:creator>SSE+ 0003 Teaching Materials</dc:creator>
  <cp:lastModifiedBy>SSE+ 0003 Teaching Materials</cp:lastModifiedBy>
  <cp:revision>1</cp:revision>
  <dcterms:created xsi:type="dcterms:W3CDTF">2026-10-26T06:21:04Z</dcterms:created>
  <dcterms:modified xsi:type="dcterms:W3CDTF">2026-10-26T06:21:04Z</dcterms:modified>
</cp:coreProperties>
</file>