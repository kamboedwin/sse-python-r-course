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Unit 5 · Lists and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Keep related values in a list and organise repeated reasoning into reusable functions. This unit builds on loops and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From five separate amounts → one list → small functions → a clear expenditure report.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01 / 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Learning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Create and change lists, access elements safely, traverse a collection, define functions and use returned results in calculations.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Final task: five validated expenses stored in a list and analysed by three custom functions.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Why store several values?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A running total preserves only the sum. A list preserves the individual observations so they can be inspected, corrected and summarised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0, 4000, 1000]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print(expenses)  # all five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 list is an ordered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Lists use square brackets and comma-separated elements. A numeric list may contain repeated values and zeros.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numbers = [10, 20, 10]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empty = []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print(type(numbers))  # &lt;class 'list'&gt;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One name, several elements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Each position has an index. Python starts at 0, not 1. For five items, the valid positive indices are 0 through 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values:  [2000] [3000] [0] [4000] [1000]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indices:   0      1    2     3     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Read the first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Use list[index] to retrieve a value. The first element is found at index 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print(expenses[0])  # 2000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print(expenses[1])  # 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Read the last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Negative indices count from the end. -1 is the final value, and -2 is the previous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print(expenses[-1])  # 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print(expenses[-2])  # 3000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Avoid IndexError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An index must refer to a position that exists. For a three-element list, index 3 is out of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print(expenses[2])  # valid: 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# print(expenses[3]) would fail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Count elements using len()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len(list) returns the number of elements, which is not the last index. An empty list has length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print(len(expenses))  # 3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print(len([]))        #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09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Check if a value occurs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The in operator checks membership. A Boolean expression can be used inside if to report a zero-spend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0, 3000]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print(0 in expenses)       # True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print(500 not in expenses) #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Change an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Assign to an existing index. This changes the stored value at that position and preserves the list length.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expenses[1] = 2500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print(expenses)  # [2000, 2500, 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Append a new item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append() adds exactly one new element at the end. A loop can call append once for every accepted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expenses.append(2000)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expenses.append(3000)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print(expenses)  # [2000, 3000]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append() versus extend()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append(item) adds one element. extend(collection) appends the separate elements of that collection.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 = [1]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a.append([2, 3])  # [1, [2, 3]]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b = [1]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b.extend([2, 3])  # [1, 2, 3]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Insert at a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insert(index, value) adds an element before the requested position; existing items shift to the right.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4000]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expenses.insert(1, 3000)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print(expenses)  # [2000, 3000, 4000]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Remove the last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pop() removes and returns the final element. Use only when the list is non-empty.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last = expenses.pop()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print(last)      # 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print(expenses)  # [2000, 3000]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Remove by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remove(value) removes the first matching item, not the item at that numeric index. The value must occur.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2000]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expenses.remove(2000)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print(expenses)  # [3000, 2000]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Slices select part of a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Like range(), slicing includes the start and excludes the stop. The result is a new list of the selected elements.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values = [10, 20, 30, 40, 50]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print(values[1:4]) # [20, 30, 40]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print(values[:2])  # [10, 20]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Loop over a list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Use for item in items when you need the values themselves. The body executes once for each element.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amount in expenses: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print(amount)  # 3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Display each day with its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When a day number matters, enumerate can give both the display position and the amount. start=1 is a human-friendly label.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expenses = [2000, 3000, 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for day, amount in enumerate(expenses, 1):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print(day, amount)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Calculate a total with a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Start an accumulator before the loop. Add each element to the running total, then print the final result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total = 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for amount in [2000, 3000, 0]: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total += amount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print(total)  # 5000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Summarise with built-in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sum(), min() and max() are convenient for non-empty numeric lists. Check special cases before using min or max.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x = [12, 15, 10, 18]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print(sum(x))  # 55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print(min(x))  # 10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print(max(x))  #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Calculate the average safely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Average equals total divided by the number of observations. An empty list has no ordinary numerical average.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values = [1000, 2000, 3000]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average = sum(values) / len(values)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print(average)  # 2000.0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Collect data with append()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Start with an empty list. After a valid amount has been entered, append it. Repeat five times.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expenses = []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for day in range(1, 6):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amount = float(input(f"Day {day}: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    expenses.append(amount)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Validate before appending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Use a while loop for a negative numeric amount. Append only when the accepted value is non-negative.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while amount &lt;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amount = float(input("Retry: "))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expenses.append(amount)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Trace the growing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The list changes after each successful append. A negative attempt does not create a new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Day 1: 2000 → [2000]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Day 2: -500 rejected; 0 → [2000, 0]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Day 3: 1000 → [2000, 0, 1000]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What is a function?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function names a reusable set of statements for one task. It is defined with def and executed by calling its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greet():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print("Welcome")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greet()  # displays Welcome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Definition versus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Python reads the definition but does not run its body until the function is called. Statements after the definition can call it many times.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announce():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print("Recorded")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announce()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announce()  # displays twice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Parameters are named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Parameters are names inside def (...). Arguments are the values passed during the 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show_cost(amount):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print(f"TZS {amount:.2f}")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show_cost(2500)  # 2500 is argument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Two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function can receive multiple values. The caller should supply the values in the intended order, or use keyword arguments.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show_day(day, amount):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print(day, amount)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show_day(2, 3500)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show_day(amount=3500, day=2)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Return gives a result to the caller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Use return when another part of the programme needs the computed value. It ends that function 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double_value(n):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return 2 * n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result = double_value(1500)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print(result + 500)  # 3500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print() is not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Printing displays a value but does not make it a reusable return result. A function without return produces None.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display(n):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print(n * 2)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value = display(5)  # prints 10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print(value)         # None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Local variables belong to a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Local variables created inside a function cannot normally be read by name from the calling code. Return what the caller needs.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price_with_tax(price):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tax = price * 0.18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return price + tax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print(price_with_tax(1000)) # 1180.0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Write a total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The function accepts any list of numeric values, accumulates their sum and returns it. It does not print or change the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calculate_total(values):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total = 0.0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for value in values: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    total += value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return total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Call calculate_total()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single function works with different lists. The caller receives a numeric result that can be formatted or used in comparisons.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print(calculate_total([2000,3000,0])) # 5000.0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print(calculate_total([])) # 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Write a zero-day counter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The function checks every value and counts entries equal to zero. This is different from counting negative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count_zero_days(values):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count = 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for value in values: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    if value == 0: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        count += 1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return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Use the zero-day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For [0, 1000, 0, 3000, 0], exactly three elements equal zero. The count returned is 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[0, 1000, 0, 3000, 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print(count_zero_days(expenses))  #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Return a budget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decision function can return a text label. The main programme handles displaying that message.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budget_message(total, allowance):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if total &gt; allowance: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    return "Over budget"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if total == allowance: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    return "Exactly on budget"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return "Within budget"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Trace the call from input to return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Pass a list to calculate_total, initialise local total, add each element in order, return it, and store the result in the caller.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[2000,3000,0]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local: 0 → 2000 → 5000 → 5000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return 5000 → report displays 5000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Functions can be tested separately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good test checks a small function before building the entire programme. Verify normal, zero and boundary examples.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calculate_total([]) → 0.0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count_zero_days([0, 10, 0]) → 2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budget_message(10, 10) → Exactly on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Build the main programme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Keep input in the main script; use helper functions for calculations. This structure is easier to read and debug.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allowance = 20000.0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expenses = [2000, 3000, 0, 4000, 1000]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total = calculate_total(expenses)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zeros = count_zero_days(expenses)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Calculate the daily average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When five values are collected, divide their total by len(expenses). Display money with units and two decimal places.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average = total / len(expenses)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print(f"Total: TZS {total:.2f}")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print(f"Average: TZS {average:.2f}")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Display the final budget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The status comes from one named function; it is not duplicated in several parts of the programme.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message = budget_message(total, allowance)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print("Zero-spend days:", zeros)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460" b="0">
                <a:solidFill>
                  <a:srgbClr val="E4F2FE"/>
                </a:solidFill>
                <a:latin typeface="Consolas"/>
              </a:defRPr>
            </a:pPr>
            <a:r>
              <a:t>print("Status:", message)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Complete expected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An allowance of 20000 and expenses [2000,3000,0,4000,1000] produce a simple, verifiable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Total: TZS 10000.00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Average: TZS 2000.00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Zero-spend days: 1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Status: Within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Test boundary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Include all-zero spending, exact allowance match, overspending and a rejected negative entry. Check the stored list length.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All zero: total 0, zeros 5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Exact 15000: status Exactly on budget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Negative input: retry same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Avoid common list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Accessing index 5 in a five-item list fails. Appending before validation stores bad data. Assigning b = a does not copy a 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Right: expenses[4] for final item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Right: validate → append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Copy when needed: other = expenses.copy()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Avoid common function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A return statement must provide the result to the caller. Initialise the local accumulator once, outside its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8232" y="2779776"/>
            <a:ext cx="4910328" cy="2798064"/>
          </a:xfrm>
          <a:prstGeom prst="roundRect">
            <a:avLst/>
          </a:prstGeom>
          <a:solidFill>
            <a:srgbClr val="0C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907792"/>
            <a:ext cx="4700016" cy="24505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def bad(values):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for value in values: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        total = 0  # resets each pass</a:t>
            </a:r>
          </a:p>
          <a:p>
            <a:pPr>
              <a:lnSpc>
                <a:spcPct val="106000"/>
              </a:lnSpc>
              <a:spcAft>
                <a:spcPts val="400"/>
              </a:spcAft>
              <a:defRPr sz="1600" b="0">
                <a:solidFill>
                  <a:srgbClr val="E4F2FE"/>
                </a:solidFill>
                <a:latin typeface="Consolas"/>
              </a:defRPr>
            </a:pPr>
            <a:r>
              <a:t># Correct: total = 0 before the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Activity U5: list-based analyser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Record five non-negative expenses in one list. Write separate functions for total, zero count and budget status. Show a formatted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Deliverable: StudentID_U5.py + a test-notes document. Five specified scenarios. 20 raw 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What to submit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930" b="0">
                <a:solidFill>
                  <a:srgbClr val="17263C"/>
                </a:solidFill>
                <a:latin typeface="Aptos"/>
              </a:defRPr>
            </a:pPr>
            <a:r>
              <a:t>Explain your input and output design, the list and each function, and expected-versus-actual test results. Declare any assistance used.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Upload using the course Google Form. Keep a copy of your runnable programme and the form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56616"/>
            <a:ext cx="10058400" cy="274320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200" b="1">
                <a:solidFill>
                  <a:srgbClr val="778799"/>
                </a:solidFill>
                <a:latin typeface="Aptos"/>
              </a:defRPr>
            </a:pPr>
            <a:r>
              <a:t>NM-AIST   /   SSE+ 0003   /   UNIT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13816"/>
            <a:ext cx="11064240" cy="85039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2900" b="1">
                <a:solidFill>
                  <a:srgbClr val="17263C"/>
                </a:solidFill>
                <a:latin typeface="Aptos"/>
              </a:defRPr>
            </a:pPr>
            <a:r>
              <a:t>Coming next: testing and debugging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1810512"/>
            <a:ext cx="1005840" cy="6400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2066543"/>
            <a:ext cx="5404104" cy="3794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8776" y="2066543"/>
            <a:ext cx="5394960" cy="3794760"/>
          </a:xfrm>
          <a:prstGeom prst="roundRect">
            <a:avLst/>
          </a:prstGeom>
          <a:solidFill>
            <a:srgbClr val="142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087F78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276856"/>
            <a:ext cx="4800600" cy="34747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50" b="1">
                <a:solidFill>
                  <a:srgbClr val="A0E3DA"/>
                </a:solidFill>
                <a:latin typeface="Aptos"/>
              </a:defRPr>
            </a:pPr>
            <a:r>
              <a:t>EXAMPLE /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61488"/>
            <a:ext cx="4809744" cy="2688336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2130" b="0">
                <a:solidFill>
                  <a:srgbClr val="17263C"/>
                </a:solidFill>
                <a:latin typeface="Aptos"/>
              </a:defRPr>
            </a:pPr>
            <a:r>
              <a:t>Unit 6 deepens your ability to detect faults, isolate causes and demonstrate that code works as expected.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752344"/>
            <a:ext cx="4690872" cy="270662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950" b="0">
                <a:solidFill>
                  <a:srgbClr val="CEF2EB"/>
                </a:solidFill>
                <a:latin typeface="Aptos"/>
              </a:defRPr>
            </a:pPr>
            <a:r>
              <a:t>You are ready if you can manipulate a list, follow a function call and explain what return sends 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0528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21424" y="5632704"/>
            <a:ext cx="201168" cy="64008"/>
          </a:xfrm>
          <a:prstGeom prst="roundRect">
            <a:avLst/>
          </a:prstGeom>
          <a:solidFill>
            <a:srgbClr val="448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54112" y="5632704"/>
            <a:ext cx="201168" cy="64008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6364224"/>
            <a:ext cx="9601200" cy="210312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050" b="0">
                <a:solidFill>
                  <a:srgbClr val="778799"/>
                </a:solidFill>
                <a:latin typeface="Aptos"/>
              </a:defRPr>
            </a:pPr>
            <a:r>
              <a:t>SSE+ 0003  ·  Introduction to Programming with Python and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36792"/>
            <a:ext cx="914400" cy="283464"/>
          </a:xfrm>
          <a:prstGeom prst="rect">
            <a:avLst/>
          </a:prstGeom>
          <a:noFill/>
        </p:spPr>
        <p:txBody>
          <a:bodyPr wrap="square" tIns="27432" bIns="27432" lIns="27432" rIns="27432">
            <a:normAutofit/>
          </a:bodyPr>
          <a:lstStyle/>
          <a:p>
            <a:pPr>
              <a:lnSpc>
                <a:spcPct val="111000"/>
              </a:lnSpc>
              <a:spcAft>
                <a:spcPts val="800"/>
              </a:spcAft>
              <a:defRPr sz="1100" b="1">
                <a:solidFill>
                  <a:srgbClr val="087F78"/>
                </a:solidFill>
                <a:latin typeface="Aptos"/>
              </a:defRPr>
            </a:pPr>
            <a:r>
              <a:t>49 / 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