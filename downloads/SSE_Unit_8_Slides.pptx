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Unit 8: turn code into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 good project answers a specific question, produces a result that can be checked and explains what the result means.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PYTHON + R + TESTS + CHART + PRESENTATION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26517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01 / 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What you will produce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One dataset connects two short scripts. The final deliverables are runnable Python and R, a test report and five evidence-focused presentation slides.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5 days · two languages · five tests · one clear message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53035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02 / 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The Campus Week Insights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How much was spent across five campus days? What was the daily average, the highest-spend day, the study-hour total and the allowance status?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GOAL: explain a small fictional week, not predict future costs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79552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03 / 46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What is in scope?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Analyse exactly five weekdays with non-negative expenditure and study hours. Fixed values are enough; no online service, database or complex application is needed.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INPUT: 5 days, 5 expenses, 5 study hours, allowance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06070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04 / 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One shared set of observations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Use matching lists/vectors for days, expenses and hours. Keep them identical in Python and R so the results can be compared meaningfully.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Days: Mon Tue Wed Thu Fri
TZS: 2000 3000 0 4000 1000
Hours: 2 1 3 2 2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325880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05 / 46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Know the expected answer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Before writing code, calculate the example result by hand. That gives you an independent standard for checking both programmes.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Expense total = TZS 10,000
Daily average = TZS 2,000
Study total = 10 hours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59105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06 /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Define inputs, process and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Treat the input as raw observations and the outputs as calculated facts. Validate every value before using it in a decision.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INPUT → VALIDATE → SUMMARISE → CLASSIFY → VERIFY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85623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07 / 46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Write an algorithm first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 language-independent algorithm helps you separate problem-solving from punctuation and syntax.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STORE → CHECK → CALCULATE → COMPARE → REPORT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212140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08 / 46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Python lists keep rows aligned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The items at the same index belong to the same day. Python indexes the first item at zero.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days = ["Mon", "Tue", "Wed", "Thu", "Fri"]
expenses = [2000, 3000, 0, 4000, 1000]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238658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09 / 46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Store study hours separately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Amounts in TZS and hours are different units. Do not add them together or use them on a single unlabelled axis.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study_hours = [2, 1, 3, 2, 2]
allowance = 15000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2651760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10 / 46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Why input validation matters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Without checks, a negative expense or a mismatched list could produce a believable but misleading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VALID: 5 finite, non-negative expenses and hours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291693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11 / 46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Python checks: length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Check that all three lists contain precisely five entries before you calculate statistics or select an index.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if len(expenses) != 5:
    raise ValueError("Five expenses required")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4882896"/>
            <a:ext cx="850392" cy="512064"/>
          </a:xfrm>
          <a:prstGeom prst="roundRect">
            <a:avLst/>
          </a:prstGeom>
          <a:solidFill>
            <a:srgbClr val="CDF2E3"/>
          </a:solidFill>
          <a:ln>
            <a:solidFill>
              <a:srgbClr val="098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5" y="4946904"/>
            <a:ext cx="80467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14324D"/>
                </a:solidFill>
                <a:latin typeface="Aptos"/>
              </a:defRPr>
            </a:pPr>
            <a:r>
              <a:t>1 : 2000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1775" y="4882896"/>
            <a:ext cx="85039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0063" y="4946904"/>
            <a:ext cx="80467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324D"/>
                </a:solidFill>
                <a:latin typeface="Aptos"/>
              </a:defRPr>
            </a:pPr>
            <a:r>
              <a:t>12 / 46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4882896"/>
            <a:ext cx="85039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1" y="4946904"/>
            <a:ext cx="80467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324D"/>
                </a:solidFill>
                <a:latin typeface="Aptos"/>
              </a:defRPr>
            </a:pPr>
            <a:r>
              <a:t>3 :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7152" y="4882896"/>
            <a:ext cx="85039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4946904"/>
            <a:ext cx="80467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324D"/>
                </a:solidFill>
                <a:latin typeface="Aptos"/>
              </a:defRPr>
            </a:pPr>
            <a:r>
              <a:t>4 : 4000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4882896"/>
            <a:ext cx="85039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68128" y="4946904"/>
            <a:ext cx="80467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14324D"/>
                </a:solidFill>
                <a:latin typeface="Aptos"/>
              </a:defRPr>
            </a:pPr>
            <a:r>
              <a:t>5 : 1000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318211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12 / 46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Python checks: finite amounts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Use math.isfinite() and a non-negative check. The starter leaves room for students to implement complete validation.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import math
valid = all(math.isfinite(x) and x &gt;= 0
            for x in expenses)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3447287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13 / 46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Build small Python functions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Give each part of the logic a clear name. Reusable functions simplify testing and make the main programme easier to understand.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def total_spending(values):
    return sum(values)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371246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14 / 46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Sum expenses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Adding five observations gives the weekly total. Verify the expected total by independent arithmetic.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total = sum(expenses)
# 2000 + 3000 + 0 + 4000 + 1000 = 10000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3977639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15 / 46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Find the daily average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Divide by the number of valid days. A zero-expense day still counts as one observed 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average = total / len(expenses)
# 10000 / 5 = 2000 TZS per day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424281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16 / 46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Identify the peak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 maximum tells you a value; use its list index to attach the correct day. Tied maxima should be described accurately.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>top = max(expenses)
first_day = days[expenses.index(top)]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450799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17 / 46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Count study 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Summing the hours gives a second informative measure. Keep the output label and unit distinct from spending.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total_hours = sum(study_hours)
# 10 hours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477316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18 / 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Budget decision: three states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Distinguish spending above the allowance, exactly equal to it and below it. Equality needs an explicit 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rPr sz="1900"/>
              <a:t>if total &gt; allowance:
    status = "Over budget"
elif total == allowance:
    status = "Exactly on budget"
else:
    status = "Within budget"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rPr sz="1900"/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rPr sz="1900"/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503834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19 / 46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Why equality is a boundary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 programme can look correct on ordinary inputs but fail when the expense total equals the allowance. Test the edge explicitly.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total 15000; allowance 15000
EXPECTED: Exactly on budget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5303520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20 / 46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Label all printed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Use descriptive result labels and TZS or hour units. A reader should interpret output without opening the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print(f"Total: TZS {total:,.2f}")
print(f"Study time: {total_hours:g} hours")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556869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21 / 46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Use the shared example 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CSV stores tabular values in plain text. The provided file is optional for the core tasks; it is a convenient reference for reusing identical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day,expense_tzs,study_hours
Mon,2000,2
Tue,3000,1
Wed,0,3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583387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22 / 46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R vectors hold the same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Use c() and the conventional &lt;- operator. R vectors begin at index one, unlike Python lists.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expenses &lt;- c(2000, 3000, 0, 4000, 1000)
study_hours &lt;- c(2, 1, 3, 2, 2)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609904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23 / 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R indexing begins at 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R index four corresponds to Thursday. Using index three because of Python habits will select Wednesday instead.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days[4]  # "Thu"
days[1]  # "Mon"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636422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24 / 46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Create a data frame in base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 data frame arranges named, equal-length columns into rows. It is useful for computing and plotting the shared dataset.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>week &lt;- data.frame(day=days,
 expense=expenses, hours=study_hours)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6629399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25 / 46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R total and average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R has built-in summary functions. With the same five numeric values, they should agree with Python and hand calculation.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>sum(week$expense)    # 10000
mean(week$expense)   # 2000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6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6894575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26 / 46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R: first maximum 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Use which.max() to obtain the first maximum position. Index day labels with that position to report a day name.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first_peak &lt;- week$day[which.max(week$expense)]
# "Thu"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715975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R: verify numeric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Make sure values are numeric, finite, and non-negative. Do not silently turn missing or negative input into a valid zero.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stopifnot(length(expenses)==5)
stopifnot(all(is.finite(expenses)))
stopifnot(all(expenses&gt;=0))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742492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28 / 46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Make a labelled bar chart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CODE / APPLIED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Each bar represents one daily expense. Include the day labels, title and currency unit for a readable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barplot(week$expense, names.arg=week$day,
 main="Campus week expenses", ylab="Amount (TZS)")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769010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29 / 46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Describe the figure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The supplied example shows Thursday as the largest expense (TZS 4,000) and Wednesday as zero. The chart describes observations rather than explaining causes.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OBSERVATION ≠ CAUSAL EXPLANATION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7955279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30 / 46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Compare language outputs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Record total, mean, top day, study hours and budget status from both scripts. Agreement is a consistency check, not automatic proof.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Python total: 10000 TZS
R total:      10000 TZS
RESULT: match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822045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31 / 46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Test T01: normal week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Confirm the standard worked example before changing inputs. Calculate its expected results independently.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Total 10000; mean 2000; top Thu
Hours 10; within budget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848563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32 / 46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Test T02: all zero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All zero values should be accepted. With zero allowance, spending is exactly on budget. The first tied maximum is Monday.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Expenses 0,0,0,0,0; allowance 0
Total 0; mean 0; first peak Mon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875080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33 / 46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Test T03: exact allowance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Set the total expense to the allowance to catch comparison mistakes. Keep study hours visible in the expected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1k+2k+3k+4k+5k = 15k
Allowance 15k → Exactly on budget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901598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34 / 46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Test T04: over allowance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The example totals TZS 22,000 against a TZS 20,000 allowance. A correct programme reports a shortfall of TZS 2,000.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Total 22000; mean 4400; top Wed
Allowance 20000 → Over budget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9281160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35 / 46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Test T05: invalid negative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An expense of −100 violates this project’s rule. Validating first prevents a misleading sum and budget status.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[2000, -100, 1000, 3000, 500]
EXPECTED: rejected; no valid summary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5029200"/>
            <a:ext cx="502920" cy="219456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5486400"/>
            <a:ext cx="53035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F3850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15783" y="4919472"/>
            <a:ext cx="502920" cy="329184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3" y="5486400"/>
            <a:ext cx="53035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F3850"/>
                </a:solidFill>
                <a:latin typeface="Aptos"/>
              </a:defRPr>
            </a:pPr>
            <a:r>
              <a:t>36 / 46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93608" y="5248656"/>
            <a:ext cx="502920" cy="22860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5486400"/>
            <a:ext cx="53035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F3850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71432" y="4809744"/>
            <a:ext cx="502920" cy="43891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5486400"/>
            <a:ext cx="53035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F3850"/>
                </a:solidFill>
                <a:latin typeface="Aptos"/>
              </a:defRPr>
            </a:pPr>
            <a:r>
              <a:t>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49256" y="5138928"/>
            <a:ext cx="502920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9256" y="5486400"/>
            <a:ext cx="530352" cy="18288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1F3850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6556248"/>
            <a:ext cx="954633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BASE R  •  NO EXTRA PACKAGES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36 / 46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Expected versus actual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A meaningful test report records what should happen and what happened, then states PASS or FAIL. Note and fix disagreements.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TEST ID | EXPECTED | ACTUAL | RESULT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981151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37 / 46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What to do after a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Check the data and lengths, isolate the failing function, correct the smallest cause, and rerun all earlier tests.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OBSERVE → LOCATE → CORRECT → RETEST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007668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38 / 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Explain privacy and limitations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The sample is fictional. Never publish real private spending records without permission. Five days cannot establish future trends.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LIMITATION: sample week; no forecasting claim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034186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39 / 46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Write a short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Include a problem statement, dataset, algorithm, Python/R implementation, key results, test table, limitations and assistance declaration.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REPORT: Problem → Data → Method → Results → Tests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/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/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0607040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40 / 46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Presentation slide 1: purpose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F3850"/>
                </a:solidFill>
                <a:latin typeface="Aptos"/>
              </a:defRPr>
            </a:pPr>
            <a:r>
              <a:t>Explain the practical question and the intended user. Keep the project title specific and the scope modest.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QUESTION: What did one fictional campus week show?</a:t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/>
            </a:r>
          </a:p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0872215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41 / 46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Presentation slide 2: data and method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State the five observations and the processing steps. A simple labelled flow or short table is clearer than a wall of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INPUT → VALIDATION → 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1137392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42 / 46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Presentation slide 3: two implementations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Mention the different strengths of each solution: Python calculations/functions; R tabular data, independent checks and a chart.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71216"/>
            <a:ext cx="4745736" cy="248716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>PYTHON: calculate + validate
R: verify + visualise</a:t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1730" b="0">
                <a:solidFill>
                  <a:srgbClr val="14324D"/>
                </a:solidFill>
                <a:latin typeface="Aptos Mono"/>
              </a:defRPr>
            </a:pPr>
            <a: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1402568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43 / 46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Presentation slide 4: results and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Show the main totals, the labelled R bar chart and evidence for required test scenarios. Avoid claiming that a chart establishes causation.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Total TZS 10000 · Average TZS 2000
Highest Thu TZS 4000 · 5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1667744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44 / 46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Presentation slide 5: learning and 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Close with what works, what you tested and one limitation. Be able to run the code and change a value when asked.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LIMITS: fictional five-day data
NEXT: longer datasets are a possible extension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1932920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45 / 46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F8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8096" cy="11887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10896"/>
            <a:ext cx="73152" cy="25603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01752"/>
            <a:ext cx="813816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NM-AIST   /   SSE+ 0003   /   UNIT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36608" y="301752"/>
            <a:ext cx="2057400" cy="36576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PYTHON +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786384"/>
            <a:ext cx="11018520" cy="1005840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0C2D4B"/>
                </a:solidFill>
                <a:latin typeface="Aptos"/>
              </a:defRPr>
            </a:pPr>
            <a:r>
              <a:t>Final submission and next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03120"/>
            <a:ext cx="5330952" cy="3867912"/>
          </a:xfrm>
          <a:prstGeom prst="roundRect">
            <a:avLst/>
          </a:prstGeom>
          <a:solidFill>
            <a:srgbClr val="FFFFFF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394960" cy="3867912"/>
          </a:xfrm>
          <a:prstGeom prst="roundRect">
            <a:avLst/>
          </a:prstGeom>
          <a:solidFill>
            <a:srgbClr val="EAF4F9"/>
          </a:solidFill>
          <a:ln>
            <a:solidFill>
              <a:srgbClr val="DD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5303520" cy="109728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0488" y="2103120"/>
            <a:ext cx="5367528" cy="109728"/>
          </a:xfrm>
          <a:prstGeom prst="rect">
            <a:avLst/>
          </a:prstGeom>
          <a:solidFill>
            <a:srgbClr val="215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4791456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98875"/>
                </a:solidFill>
                <a:latin typeface="Aptos"/>
              </a:defRPr>
            </a:pPr>
            <a:r>
              <a:t>CONCEPT &amp;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2423160"/>
            <a:ext cx="4864608" cy="32918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15B93"/>
                </a:solidFill>
                <a:latin typeface="Aptos"/>
              </a:defRPr>
            </a:pPr>
            <a:r>
              <a:t>APPLICATION &amp;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880360"/>
            <a:ext cx="4754880" cy="2642616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F3850"/>
                </a:solidFill>
                <a:latin typeface="Aptos"/>
              </a:defRPr>
            </a:pPr>
            <a:r>
              <a:t>Submit runnable Python and R scripts, report with five tests and comparison table, and five-slide presentation. Keep your own backups.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862072"/>
            <a:ext cx="4736592" cy="2578608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4324D"/>
                </a:solidFill>
                <a:latin typeface="Aptos"/>
              </a:defRPr>
            </a:pPr>
            <a:r>
              <a:t>SCRIPTS + TEST REPORT + CHART + FIVE SLIDES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8096" cy="301752"/>
          </a:xfrm>
          <a:prstGeom prst="rect">
            <a:avLst/>
          </a:prstGeom>
          <a:solidFill>
            <a:srgbClr val="0C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12198096" cy="50292"/>
          </a:xfrm>
          <a:prstGeom prst="rect">
            <a:avLst/>
          </a:prstGeom>
          <a:solidFill>
            <a:srgbClr val="098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6592824"/>
            <a:ext cx="777240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FFFFF"/>
                </a:solidFill>
                <a:latin typeface="Aptos"/>
              </a:defRPr>
            </a:pPr>
            <a:r>
              <a:t>STUDENT STUDY RESOURCE  •  PYTHON + BASE R  • 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92824"/>
            <a:ext cx="1417320" cy="192024"/>
          </a:xfrm>
          <a:prstGeom prst="rect">
            <a:avLst/>
          </a:prstGeom>
          <a:noFill/>
        </p:spPr>
        <p:txBody>
          <a:bodyPr wrap="square" lIns="27432" tIns="27432" rIns="27432" bIns="27432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ptos"/>
              </a:defRPr>
            </a:pPr>
            <a:r>
              <a:t>46 / 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SSE+ 0003 Unit 8 — Mini-project and presentation</dc:title>
  <dc:subject>Python and R capstone student revision presentation</dc:subject>
  <dc:creator>NM-AIST SSE+ student course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