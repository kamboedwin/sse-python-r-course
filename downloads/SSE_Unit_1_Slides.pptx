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f9604035fd4d83" /><Relationship Type="http://schemas.openxmlformats.org/officeDocument/2006/relationships/extended-properties" Target="/docProps/app.xml" Id="R3de47f8043e44ce1" /><Relationship Type="http://schemas.openxmlformats.org/officeDocument/2006/relationships/officeDocument" Target="/ppt/presentation.xml" Id="Rcf7759c5edd6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80c89414414b1d"/>
  </p:sldMasterIdLst>
  <p:notesMasterIdLst>
    <p:notesMasterId xmlns:r="http://schemas.openxmlformats.org/officeDocument/2006/relationships" r:id="R1c858eda6e7b4a7f"/>
  </p:notesMasterIdLst>
  <p:sldIdLst>
    <p:sldId xmlns:r="http://schemas.openxmlformats.org/officeDocument/2006/relationships" id="256" r:id="Rc08d5bbf8f3a449a"/>
    <p:sldId xmlns:r="http://schemas.openxmlformats.org/officeDocument/2006/relationships" id="257" r:id="Rd092f5789dde4109"/>
    <p:sldId xmlns:r="http://schemas.openxmlformats.org/officeDocument/2006/relationships" id="258" r:id="R00370ce7ba4a47fd"/>
    <p:sldId xmlns:r="http://schemas.openxmlformats.org/officeDocument/2006/relationships" id="259" r:id="R829a0af0835b4399"/>
    <p:sldId xmlns:r="http://schemas.openxmlformats.org/officeDocument/2006/relationships" id="260" r:id="Rfad1ba1b9d1d4f64"/>
    <p:sldId xmlns:r="http://schemas.openxmlformats.org/officeDocument/2006/relationships" id="261" r:id="R61b0ee964e034b03"/>
    <p:sldId xmlns:r="http://schemas.openxmlformats.org/officeDocument/2006/relationships" id="262" r:id="R8af8ce2a06d14aab"/>
    <p:sldId xmlns:r="http://schemas.openxmlformats.org/officeDocument/2006/relationships" id="263" r:id="Re5c850aab6954623"/>
    <p:sldId xmlns:r="http://schemas.openxmlformats.org/officeDocument/2006/relationships" id="264" r:id="Ra92ff263608242a7"/>
    <p:sldId xmlns:r="http://schemas.openxmlformats.org/officeDocument/2006/relationships" id="265" r:id="Rcfa08e856b984673"/>
    <p:sldId xmlns:r="http://schemas.openxmlformats.org/officeDocument/2006/relationships" id="266" r:id="Reae6077cb7d84bc7"/>
    <p:sldId xmlns:r="http://schemas.openxmlformats.org/officeDocument/2006/relationships" id="267" r:id="R625ada7c21db47a9"/>
    <p:sldId xmlns:r="http://schemas.openxmlformats.org/officeDocument/2006/relationships" id="268" r:id="R8a4b7e8222fc4b7e"/>
    <p:sldId xmlns:r="http://schemas.openxmlformats.org/officeDocument/2006/relationships" id="269" r:id="R7ea6587d14244b91"/>
    <p:sldId xmlns:r="http://schemas.openxmlformats.org/officeDocument/2006/relationships" id="270" r:id="Rc9fbf3213e6d451f"/>
    <p:sldId xmlns:r="http://schemas.openxmlformats.org/officeDocument/2006/relationships" id="271" r:id="Red8c03d500d6465c"/>
    <p:sldId xmlns:r="http://schemas.openxmlformats.org/officeDocument/2006/relationships" id="272" r:id="R1253e572e7624e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0dbae9336b462c" /><Relationship Type="http://schemas.openxmlformats.org/officeDocument/2006/relationships/slideMaster" Target="/ppt/slideMasters/slideMaster1.xml" Id="Ra280c89414414b1d" /><Relationship Type="http://schemas.openxmlformats.org/officeDocument/2006/relationships/notesMaster" Target="/ppt/notesMasters/notesMaster1.xml" Id="R1c858eda6e7b4a7f" /><Relationship Type="http://schemas.openxmlformats.org/officeDocument/2006/relationships/presProps" Target="/ppt/presProps.xml" Id="Rde6820164b324743" /><Relationship Type="http://schemas.openxmlformats.org/officeDocument/2006/relationships/tableStyles" Target="/ppt/tableStyles.xml" Id="R4a88f87899244205" /><Relationship Type="http://schemas.openxmlformats.org/officeDocument/2006/relationships/slide" Target="/ppt/slides/slide1.xml" Id="Rc08d5bbf8f3a449a" /><Relationship Type="http://schemas.openxmlformats.org/officeDocument/2006/relationships/slide" Target="/ppt/slides/slide2.xml" Id="Rd092f5789dde4109" /><Relationship Type="http://schemas.openxmlformats.org/officeDocument/2006/relationships/slide" Target="/ppt/slides/slide3.xml" Id="R00370ce7ba4a47fd" /><Relationship Type="http://schemas.openxmlformats.org/officeDocument/2006/relationships/slide" Target="/ppt/slides/slide4.xml" Id="R829a0af0835b4399" /><Relationship Type="http://schemas.openxmlformats.org/officeDocument/2006/relationships/slide" Target="/ppt/slides/slide5.xml" Id="Rfad1ba1b9d1d4f64" /><Relationship Type="http://schemas.openxmlformats.org/officeDocument/2006/relationships/slide" Target="/ppt/slides/slide6.xml" Id="R61b0ee964e034b03" /><Relationship Type="http://schemas.openxmlformats.org/officeDocument/2006/relationships/slide" Target="/ppt/slides/slide7.xml" Id="R8af8ce2a06d14aab" /><Relationship Type="http://schemas.openxmlformats.org/officeDocument/2006/relationships/slide" Target="/ppt/slides/slide8.xml" Id="Re5c850aab6954623" /><Relationship Type="http://schemas.openxmlformats.org/officeDocument/2006/relationships/slide" Target="/ppt/slides/slide9.xml" Id="Ra92ff263608242a7" /><Relationship Type="http://schemas.openxmlformats.org/officeDocument/2006/relationships/slide" Target="/ppt/slides/slide10.xml" Id="Rcfa08e856b984673" /><Relationship Type="http://schemas.openxmlformats.org/officeDocument/2006/relationships/slide" Target="/ppt/slides/slide11.xml" Id="Reae6077cb7d84bc7" /><Relationship Type="http://schemas.openxmlformats.org/officeDocument/2006/relationships/slide" Target="/ppt/slides/slide12.xml" Id="R625ada7c21db47a9" /><Relationship Type="http://schemas.openxmlformats.org/officeDocument/2006/relationships/slide" Target="/ppt/slides/slide13.xml" Id="R8a4b7e8222fc4b7e" /><Relationship Type="http://schemas.openxmlformats.org/officeDocument/2006/relationships/slide" Target="/ppt/slides/slide14.xml" Id="R7ea6587d14244b91" /><Relationship Type="http://schemas.openxmlformats.org/officeDocument/2006/relationships/slide" Target="/ppt/slides/slide15.xml" Id="Rc9fbf3213e6d451f" /><Relationship Type="http://schemas.openxmlformats.org/officeDocument/2006/relationships/slide" Target="/ppt/slides/slide16.xml" Id="Red8c03d500d6465c" /><Relationship Type="http://schemas.openxmlformats.org/officeDocument/2006/relationships/slide" Target="/ppt/slides/slide17.xml" Id="R1253e572e7624e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e3da7b50f144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431e9b17db470f" /><Relationship Type="http://schemas.openxmlformats.org/officeDocument/2006/relationships/notesMaster" Target="/ppt/notesMasters/notesMaster1.xml" Id="Re54cd9ce45924e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38681dc5d74f27" /><Relationship Type="http://schemas.openxmlformats.org/officeDocument/2006/relationships/notesMaster" Target="/ppt/notesMasters/notesMaster1.xml" Id="Re3d777e63bcc45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cce29d3b9840cc" /><Relationship Type="http://schemas.openxmlformats.org/officeDocument/2006/relationships/notesMaster" Target="/ppt/notesMasters/notesMaster1.xml" Id="R4bffcb009ff64f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2b24ba5525421a" /><Relationship Type="http://schemas.openxmlformats.org/officeDocument/2006/relationships/notesMaster" Target="/ppt/notesMasters/notesMaster1.xml" Id="Rd4dff1cc47ba42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d7f89810924d99" /><Relationship Type="http://schemas.openxmlformats.org/officeDocument/2006/relationships/notesMaster" Target="/ppt/notesMasters/notesMaster1.xml" Id="Rb0294d09a1594d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d1ac9f964d497e" /><Relationship Type="http://schemas.openxmlformats.org/officeDocument/2006/relationships/notesMaster" Target="/ppt/notesMasters/notesMaster1.xml" Id="R85df65d5a04243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500396d0654309" /><Relationship Type="http://schemas.openxmlformats.org/officeDocument/2006/relationships/notesMaster" Target="/ppt/notesMasters/notesMaster1.xml" Id="R6403a3633e7c4d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158f190ade4fb6" /><Relationship Type="http://schemas.openxmlformats.org/officeDocument/2006/relationships/notesMaster" Target="/ppt/notesMasters/notesMaster1.xml" Id="R0d9b15866e584a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c5ed7409884bc8" /><Relationship Type="http://schemas.openxmlformats.org/officeDocument/2006/relationships/notesMaster" Target="/ppt/notesMasters/notesMaster1.xml" Id="R06a0ac730d2c4a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80937aa2724ac1" /><Relationship Type="http://schemas.openxmlformats.org/officeDocument/2006/relationships/notesMaster" Target="/ppt/notesMasters/notesMaster1.xml" Id="R76e6fa64054b47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44cb1325bd406d" /><Relationship Type="http://schemas.openxmlformats.org/officeDocument/2006/relationships/notesMaster" Target="/ppt/notesMasters/notesMaster1.xml" Id="Re1a3e700e6be43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3b91147fc34a83" /><Relationship Type="http://schemas.openxmlformats.org/officeDocument/2006/relationships/notesMaster" Target="/ppt/notesMasters/notesMaster1.xml" Id="Rfacee299612d40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a3aed37d3d4ec4" /><Relationship Type="http://schemas.openxmlformats.org/officeDocument/2006/relationships/notesMaster" Target="/ppt/notesMasters/notesMaster1.xml" Id="Rac03d87aed4b4a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a208c187294617" /><Relationship Type="http://schemas.openxmlformats.org/officeDocument/2006/relationships/notesMaster" Target="/ppt/notesMasters/notesMaster1.xml" Id="R2c2eb52b06e742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5785329023491b" /><Relationship Type="http://schemas.openxmlformats.org/officeDocument/2006/relationships/notesMaster" Target="/ppt/notesMasters/notesMaster1.xml" Id="R3bf1b36159ef43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b77e25916a475b" /><Relationship Type="http://schemas.openxmlformats.org/officeDocument/2006/relationships/notesMaster" Target="/ppt/notesMasters/notesMaster1.xml" Id="Ra559eacec1bd4b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1ade0d2c0646ae" /><Relationship Type="http://schemas.openxmlformats.org/officeDocument/2006/relationships/notesMaster" Target="/ppt/notesMasters/notesMaster1.xml" Id="Ra4e181f6bd6d4a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7fcb46b0442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1855cd6f543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ff15a209c4d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3fdab15d345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9f5ddcf204f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81169d25c40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E1FEC1-96A6-4BCD-8228-0E0983817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F0E699-A703-4113-877E-E9DBAA0463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74D231-FB39-428B-B506-6DEE018CC6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01C931-96D1-4F01-B525-5D4282810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7B14E2-AB7B-4F42-B257-5C8825EB56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FD8F15-216E-4B9C-BDD7-FF5F9D434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20232A-D549-436A-8F7C-B229F0259B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D67596-ECEC-4D33-B5F1-775155305F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89367F-7053-47C0-97C3-AF80EECFE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B09DBD-60FE-498F-8F1A-EFA7F44791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ec157035c04c0f" /><Relationship Type="http://schemas.openxmlformats.org/officeDocument/2006/relationships/slideLayout" Target="/ppt/slideLayouts/slideLayout1.xml" Id="R1ca281b5fd68423a" /><Relationship Type="http://schemas.openxmlformats.org/officeDocument/2006/relationships/slideLayout" Target="/ppt/slideLayouts/slideLayout2.xml" Id="Redf72e8171614951" /><Relationship Type="http://schemas.openxmlformats.org/officeDocument/2006/relationships/slideLayout" Target="/ppt/slideLayouts/slideLayout3.xml" Id="R926e906f11f147a5" /><Relationship Type="http://schemas.openxmlformats.org/officeDocument/2006/relationships/slideLayout" Target="/ppt/slideLayouts/slideLayout4.xml" Id="R0e4658f40b06448f" /><Relationship Type="http://schemas.openxmlformats.org/officeDocument/2006/relationships/slideLayout" Target="/ppt/slideLayouts/slideLayout5.xml" Id="R68940848afc141f2" /><Relationship Type="http://schemas.openxmlformats.org/officeDocument/2006/relationships/slideLayout" Target="/ppt/slideLayouts/slideLayout6.xml" Id="R29afdc7773e042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a281b5fd68423a"/>
    <p:sldLayoutId xmlns:r="http://schemas.openxmlformats.org/officeDocument/2006/relationships" id="2147483650" r:id="Redf72e8171614951"/>
    <p:sldLayoutId xmlns:r="http://schemas.openxmlformats.org/officeDocument/2006/relationships" id="2147483651" r:id="R926e906f11f147a5"/>
    <p:sldLayoutId xmlns:r="http://schemas.openxmlformats.org/officeDocument/2006/relationships" id="2147483652" r:id="R0e4658f40b06448f"/>
    <p:sldLayoutId xmlns:r="http://schemas.openxmlformats.org/officeDocument/2006/relationships" id="2147483653" r:id="R68940848afc141f2"/>
    <p:sldLayoutId xmlns:r="http://schemas.openxmlformats.org/officeDocument/2006/relationships" id="2147483654" r:id="R29afdc7773e042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75b584a294e7a" /><Relationship Type="http://schemas.openxmlformats.org/officeDocument/2006/relationships/notesSlide" Target="/ppt/notesSlides/notesSlide1.xml" Id="R685ed5e7e5d84c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c4f3d7b824c97" /><Relationship Type="http://schemas.openxmlformats.org/officeDocument/2006/relationships/notesSlide" Target="/ppt/notesSlides/notesSlide2.xml" Id="R6b7471c6bd8741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aae71826345ef" /><Relationship Type="http://schemas.openxmlformats.org/officeDocument/2006/relationships/notesSlide" Target="/ppt/notesSlides/notesSlide3.xml" Id="Rda408c1d575c4b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bbfea3c2eb4996" /><Relationship Type="http://schemas.openxmlformats.org/officeDocument/2006/relationships/notesSlide" Target="/ppt/notesSlides/notesSlide4.xml" Id="R9b057e30db7f4d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735a30ade432c" /><Relationship Type="http://schemas.openxmlformats.org/officeDocument/2006/relationships/notesSlide" Target="/ppt/notesSlides/notesSlide5.xml" Id="R7ed2f0206edc4c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5a2e7d513d4c2b" /><Relationship Type="http://schemas.openxmlformats.org/officeDocument/2006/relationships/notesSlide" Target="/ppt/notesSlides/notesSlide6.xml" Id="R77d1f44375ff4c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720d0cc334822" /><Relationship Type="http://schemas.openxmlformats.org/officeDocument/2006/relationships/notesSlide" Target="/ppt/notesSlides/notesSlide7.xml" Id="Ra349cc340f6246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b414386ab4aac" /><Relationship Type="http://schemas.openxmlformats.org/officeDocument/2006/relationships/notesSlide" Target="/ppt/notesSlides/notesSlide8.xml" Id="R84a9ad3488fa46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4c5c4f17f46a4" /><Relationship Type="http://schemas.openxmlformats.org/officeDocument/2006/relationships/notesSlide" Target="/ppt/notesSlides/notesSlide9.xml" Id="Rb7afeadbc9a24d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ccc7881324f3a" /><Relationship Type="http://schemas.openxmlformats.org/officeDocument/2006/relationships/notesSlide" Target="/ppt/notesSlides/notesSlide10.xml" Id="Rc6d9a1751a7043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4497b04424bd2" /><Relationship Type="http://schemas.openxmlformats.org/officeDocument/2006/relationships/notesSlide" Target="/ppt/notesSlides/notesSlide11.xml" Id="R943ad022c20e44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39f3caa0194ff6" /><Relationship Type="http://schemas.openxmlformats.org/officeDocument/2006/relationships/notesSlide" Target="/ppt/notesSlides/notesSlide12.xml" Id="R5a9af34bf1c54e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7e7160221f41dd" /><Relationship Type="http://schemas.openxmlformats.org/officeDocument/2006/relationships/notesSlide" Target="/ppt/notesSlides/notesSlide13.xml" Id="R6d9cff9397e947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8482a49ae4f7e" /><Relationship Type="http://schemas.openxmlformats.org/officeDocument/2006/relationships/notesSlide" Target="/ppt/notesSlides/notesSlide14.xml" Id="R03d3b9b6af6b4c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58194cc5674b29" /><Relationship Type="http://schemas.openxmlformats.org/officeDocument/2006/relationships/notesSlide" Target="/ppt/notesSlides/notesSlide15.xml" Id="Rc46ef130a6274c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85ce878b44e0d" /><Relationship Type="http://schemas.openxmlformats.org/officeDocument/2006/relationships/notesSlide" Target="/ppt/notesSlides/notesSlide16.xml" Id="R8a63d0e3a20e4b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177a2a44746f6" /><Relationship Type="http://schemas.openxmlformats.org/officeDocument/2006/relationships/notesSlide" Target="/ppt/notesSlides/notesSlide17.xml" Id="R7652a5e1993c49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F34657E8-1911-4590-8661-B8143BB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03DE09-ABC0-4ACA-B545-EAFC0E68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Programming foundations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396BB7C-33F0-4F44-9DF9-BD0208EB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A program expresses instructions that a computer can execute. Programming includes understanding a problem, designing its solution and checking whether the result is correct.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94EA9DAA-1863-4EC6-B741-59C0789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Unit 1 explores these ideas through everyday calculations. Python provides the notation for the first working examples.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32946B6-DC1A-41E3-902D-21803991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77A3066A-49BF-4E31-8E1F-BAFA4BF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7829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57F3E8EE-351E-4224-B54D-5DC4DF1A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CA8A4A-05F5-4ED6-A547-CC3DF359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Programs in everyday life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6450BAD-55AA-4A8A-A92B-26279B41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A calculator computes results, a banking application records transactions, and a registration system organises student information. Each uses instructions designed for a particular task.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5FD7B0C2-38BA-405A-8353-44C4B8AD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A small transport-cost calculator follows the same basic principle: supplied information is processed to produce a useful result.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81F2A9F-34AF-4D68-B15B-E0AA9783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CA8B922C-3FB2-4E04-880F-6E2753D9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6294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E98BF027-61D2-4AEE-B9A3-7E8C1167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FCF7D9-0CC4-477B-92CC-98B1480B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Algorithms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F1BD0E9-1C1F-4F8B-B9A8-3926BC59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An algorithm is a clear, ordered sequence of steps for solving a problem. It can be expressed in ordinary language before code is written.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2B5F7084-75E8-49EB-B848-D28D4143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Notebook example: identify the price and quantity, multiply them, then report the total. Three notebooks at TZS 2,000 cost TZS 6,000.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FDE66C8-30A1-48AF-8890-A919B087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5EDBCE8C-38B6-42FD-84EF-F91F9782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8005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C1EBF28D-7A1A-41FE-82D4-DEF009E5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685F37-344E-44C2-AF7A-DFD110F5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Inputs processing and outputs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6E674CA-9E01-4225-A854-A7E39D3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Inputs supply information. Processing performs operations on that information. Outputs communicate the results.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BA964050-0C01-4424-BDC0-8162710B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Transport example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Input: fare 1500 and trips 6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Processing: 1500 × 6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Output: TZS 9000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60374FA-F481-4F2A-A9EA-55A1E04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DEF8883C-074C-4614-9F91-8EA5CDCC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1916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AF157D7A-5E51-4B8B-957C-F6462AFE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5014DB-F278-4BF3-82D2-DF2791A2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Assumptions in a solution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5904A84-44DC-4BC1-BBAD-452559B8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The transport calculation assumes six one-way trips, the same fare for each trip and no extra charges. These conditions define when the calculation is suitable.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8F07D837-91D2-43F4-BA04-8D86B281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Different evening and morning fares would require a revised model. Correct arithmetic cannot fix an incorrect assumption.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0F68C13-2CB8-4706-9641-E0C545A2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805AF0F7-9C77-4A6B-8DFF-8D5B2B84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4954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3B506347-9917-468B-8846-3C5E6427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962AB0-95ED-43CD-B52A-ED873731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Sequence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1E4EA9E-2B7D-4D4A-956B-45B67702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The fare and number of trips must exist before the program can multiply them. The total must be calculated before it can be displayed.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520474A9-D595-4953-A4EE-2FF23E61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1. Set the fare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2. Set the number of trips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3. Multiply fare by trips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4. Display the total and units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32C2C19-5E82-4531-9CB9-AD83A8CB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1DD97F4D-B9C4-4656-8030-C7C6716D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4681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C41B204C-0B74-41DA-A72A-B3F38890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85CEF4-BDCB-4979-BED8-B3D6C30A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The first Python program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F1AC73F-6C77-4649-AF72-C1FB790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Python executes this example from top to bottom. The first two statements establish the inputs. The third calculates the total. The final statement displays it.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088E4858-0F45-4E27-85DF-530C4844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defPPr>
            <a:lvl1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1pPr>
            <a:lvl2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2pPr>
            <a:lvl3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3pPr>
            <a:lvl4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4pPr>
            <a:lvl5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5pPr>
            <a:lvl6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6pPr>
            <a:lvl7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7pPr>
            <a:lvl8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8pPr>
            <a:lvl9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rPr>
              <a:t>fare = 1500</a:t>
            </a:r>
          </a:p>
          <a:p xmlns:a="http://schemas.openxmlformats.org/drawingml/2006/main">
            <a: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rPr>
              <a:t>trips = 6</a:t>
            </a:r>
          </a:p>
          <a:p xmlns:a="http://schemas.openxmlformats.org/drawingml/2006/main">
            <a: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rPr>
              <a:t>total = fare * trips</a:t>
            </a:r>
          </a:p>
          <a:p xmlns:a="http://schemas.openxmlformats.org/drawingml/2006/main">
            <a: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rPr>
              <a:t>print("Cost in TZS:", total)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ACF0972-4439-44DE-A596-71A30D18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CD030AC9-C5BA-4B3F-A316-F8165667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2352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46615CFB-31B0-4CEC-AA3D-E968DA29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9C1A3A-0A68-45D5-835B-CD58700D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Variables and assignment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75EBDDA-38A9-47CB-8EDC-82F829A8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A variable is a name associated with a value. The statement fare = 1500 assigns 1500 to the name fare. Meaningful names explain what the values represent.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A4EED673-BEC1-462A-996C-7BD862C2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In total = fare * trips, Python evaluates the expression on the right and assigns its result to total. The equals sign performs assignment.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FB7C60D-04A1-441A-997E-AE4BABB7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A82DA52A-D69F-4044-93E2-9641F925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22068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3A432731-65D4-4066-BDD8-D96C6FB1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8128E3-89A0-4DFE-B179-DA80DAFC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Changing values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91E72A4-FFFD-41B5-9BED-BF1798BC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If trips becomes 8 and the calculation runs again, the total becomes 12000. The same calculation can answer a new case.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9C0F6E1F-0F92-4202-AE4A-B1C81A8C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A previously calculated total does not update automatically when trips changes. The multiplication statement must execute again.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E95F6B-E396-40B5-9048-FE0ED848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FBE15A48-91D1-40EE-A8E2-E1ECE8F4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21135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99C198B4-B2AB-4C9E-998D-F0C55CB6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73320C-9E3F-40A5-A8D0-44F98C94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Text and numbers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DB463CAC-360E-4E87-8908-88E18A6A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A string is text enclosed in quotation marks. A label such as "Total cost:" helps explain a result. An integer such as 1500 is a whole-number value.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1474F169-88A0-4D34-8037-0BE71BAC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defPPr>
            <a:lvl1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1pPr>
            <a:lvl2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2pPr>
            <a:lvl3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3pPr>
            <a:lvl4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4pPr>
            <a:lvl5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5pPr>
            <a:lvl6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6pPr>
            <a:lvl7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7pPr>
            <a:lvl8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8pPr>
            <a:lvl9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rPr>
              <a:t>total = 9000</a:t>
            </a:r>
          </a:p>
          <a:p xmlns:a="http://schemas.openxmlformats.org/drawingml/2006/main">
            <a: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rPr>
              <a:t>print("total")  # displays total</a:t>
            </a:r>
          </a:p>
          <a:p xmlns:a="http://schemas.openxmlformats.org/drawingml/2006/main">
            <a: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rPr>
              <a:t>print(total)    # displays 9000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A977D21-A4E3-4CC0-AD9D-894934D9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8A209D02-AE16-47A1-BA37-53C1C373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20771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7CFC05ED-9D29-4017-B6F8-0B6A7275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D6DD81D-2BE3-42AB-B4C9-FE317995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Clear output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14CB46F-C7F9-44A8-936A-DB421610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The print() function displays values. Parentheses contain its supplied values, and a comma separates the label from the value in this example.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CF046CB1-AEDF-46A4-8602-EA2828BD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defPPr>
            <a:lvl1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1pPr>
            <a:lvl2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2pPr>
            <a:lvl3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3pPr>
            <a:lvl4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4pPr>
            <a:lvl5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5pPr>
            <a:lvl6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6pPr>
            <a:lvl7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7pPr>
            <a:lvl8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8pPr>
            <a:lvl9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rPr>
              <a:t>print("Cost in TZS:", total)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rPr>
              <a:t>Output for the original values:</a:t>
            </a:r>
          </a:p>
          <a:p xmlns:a="http://schemas.openxmlformats.org/drawingml/2006/main">
            <a:pPr>
              <a:def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4D67"/>
                </a:solidFill>
                <a:latin typeface="Liberation Mono"/>
                <a:ea typeface="Liberation Mono"/>
                <a:cs typeface="Liberation Mono"/>
              </a:rPr>
              <a:t>Cost in TZS: 9000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CC52685-C559-4891-9937-D04E920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FBEA1727-1396-4781-9F04-B9E3D8A9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72913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DB7DB229-162E-4767-96FC-E12F39EF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98C6F6-E9FA-4F23-B784-80FC7E98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Tracing execution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D10E4A9D-DD78-4A64-902F-5F8BE4FF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Tracing follows each instruction and records the values produced. It explains how the final result was reached.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1B2CF4CA-AD18-471B-8BA3-5B2E1331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After line 1: fare is 1500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After line 2: trips is 6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After line 3: total is 9000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After line 4: the result is displayed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5AF6D20-8630-4E02-AB04-705BF755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67E6012A-2A84-44D9-8EFD-866E333C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379199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7DF5C442-EBB1-49C6-97A1-221804DD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624005-C1B1-453A-96FE-A49BB174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Test cases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CD07F88C-9548-4C4B-9BE3-71CE61C0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A test case combines input values with an independently calculated expected result. Comparing that expectation with the actual output checks the program for that case.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8EDED185-73A0-43BB-A92F-C2743D98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1500 × 6 should produce 9000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1500 × 8 should produce 12000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1500 × 0 should produce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Passing a few tests does not prove every case will work.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2120946-75B5-4CB5-A566-6C1A827E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5B4570DA-BA5D-49C4-BA8C-3363CECC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87405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46F6CE60-99AC-4AB7-B8D9-AB47053A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F57F40-23C3-461C-85B1-128AD523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Errors and debugging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D1465DD0-72B7-4A14-8341-225426C2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A syntax error breaks writing rules. A NameError can refer to an unknown name. A logic error can produce an incorrect answer even when the program runs.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664F228F-8D07-41A3-AD6C-5F03CD96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Missing quotation mark: syntax error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Fare instead of defined fare: NameError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fare + trips instead of multiplication: logic error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4B9F97B-AFEA-4932-B261-70F4B23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73A907D7-303C-404A-BE22-35FC8049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894371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87133296-BBD5-42CB-96CB-D668BA6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1CE3AD-68E6-46D4-93C4-D0A42B02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Guided practice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42AC464-6744-4FBE-80AA-0C0E0A17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Shopping: four notebooks cost TZS 2,000 each. The total is 8000. Seven notebooks at the same price cost 14000.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A3B459B1-2343-4EC4-A344-29FE4BC0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Study time: 30 minutes on five days totals 150 minutes. Changing the values to 45 minutes on four days produces 180 minutes.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A6F8FED-C3EE-4312-BABF-38968DF2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C2FD3F3A-99BF-4588-BD5A-5606979C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151424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EEC8CAFA-7122-4822-870E-07A58D52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473F2D-7A2F-4047-9D7B-6BA30436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Independent activity U1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028EF15B-9A3E-4320-976A-E9149AA3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An exercise-book calculator uses a price and quantity to calculate total cost. The submission includes a problem description, an algorithm, runnable code and test evidence.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4234FC8E-F12B-4B24-9DA0-C33377FE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Required cases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1500 and 3: 4500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2500 and 4: 10000</a:t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2000 and 0: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The activity page contains the full brief and marking criteria.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5E972E1-1B30-4552-A79B-6540D5A7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1C4233E9-F294-4ADB-B50F-2AAA8F7F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91854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B008F3EE-9B8D-4C97-BE80-5FD4019E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SSE+ 0003     UNIT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84EC28-ED2C-45A0-A1F5-BAF01DC7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67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2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239"/>
                </a:solidFill>
                <a:latin typeface="Arial"/>
                <a:ea typeface="Arial"/>
                <a:cs typeface="Arial"/>
              </a:rPr>
              <a:t>Readiness for the next unit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8C2F854-E06C-4B3A-AC33-087DD2D9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91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A clear explanation connects the problem, its algorithm and the code. Test evidence connects expected results with actual outputs.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05B74C49-8A95-43BE-904E-02BC61B8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095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5B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5B56"/>
                </a:solidFill>
                <a:latin typeface="Arial"/>
                <a:ea typeface="Arial"/>
                <a:cs typeface="Arial"/>
              </a:rPr>
              <a:t>Unit 1 readiness means being able to explain a simple calculation, modify its values, save the program and identify a result that is incorrect.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C80594D-3F4B-4482-8EF1-1F0956CF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NM-AIST · Introduction to Programming with Python and R</a:t>
            </a:r>
          </a:p>
        </p:txBody>
      </p:sp>
      <p:sp>
        <p:nvSpPr>
          <p:cNvPr id="6" name="number">
            <a:extLst xmlns:a="http://schemas.openxmlformats.org/drawingml/2006/main">
              <a:ext uri="{FF2B5EF4-FFF2-40B4-BE49-F238E27FC236}">
                <a16:creationId xmlns:a16="http://schemas.microsoft.com/office/drawing/2014/main" id="{D586E603-612D-49DA-8EFA-AECF880D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97633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2026-10-22T13:13:52.2080000Z</dcterms:created>
  <dcterms:modified xsi:type="dcterms:W3CDTF">2026-10-22T13:13:52.2080000Z</dcterms:modified>
</coreProperties>
</file>